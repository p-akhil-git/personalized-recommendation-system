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Rating Distribution (skews positive)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★</c:v>
                </c:pt>
                <c:pt idx="1">
                  <c:v>2 ★</c:v>
                </c:pt>
                <c:pt idx="2">
                  <c:v>3 ★</c:v>
                </c:pt>
                <c:pt idx="3">
                  <c:v>4 ★</c:v>
                </c:pt>
                <c:pt idx="4">
                  <c:v>5 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54740</c:v>
                </c:pt>
                <c:pt idx="1">
                  <c:v>88020</c:v>
                </c:pt>
                <c:pt idx="2">
                  <c:v>197640</c:v>
                </c:pt>
                <c:pt idx="3">
                  <c:v>367200</c:v>
                </c:pt>
                <c:pt idx="4">
                  <c:v>292400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F5-4EBC-AD6E-E7F3C85538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Key Metrics (SVD vs KNN)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RMSE</c:v>
                </c:pt>
                <c:pt idx="1">
                  <c:v>MAP@10</c:v>
                </c:pt>
                <c:pt idx="2">
                  <c:v>NDCG@10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0.93959999999999999</c:v>
                </c:pt>
                <c:pt idx="1">
                  <c:v>0.91820000000000002</c:v>
                </c:pt>
                <c:pt idx="2">
                  <c:v>0.94269999999999998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2A-4BBE-B85C-E961875570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Item-KNN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RMSE</c:v>
                </c:pt>
                <c:pt idx="1">
                  <c:v>MAP@10</c:v>
                </c:pt>
                <c:pt idx="2">
                  <c:v>NDCG@10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0.95909999999999995</c:v>
                </c:pt>
                <c:pt idx="1">
                  <c:v>0.92269999999999996</c:v>
                </c:pt>
                <c:pt idx="2">
                  <c:v>0.94589999999999996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2A-4BBE-B85C-E961875570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8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9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Dataset: Netflix Prize subset (1M rows sampled). Two models built: SVD and Item-Based KNN.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8288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Netflix Prize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Personalized Content Discovery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· Matrix Factorization · Ranking Evaluation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574K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Ratings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9748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66.9K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9748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Users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Movies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347472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Sparse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ratings, 480K users, 17,770 movies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is 98.7% EMPTY — most movies never rated by each user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what a user would rate an unseen movie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 a personalised Top-10 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92040" y="173736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37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SVD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42432" y="17373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Matrix Factorization — learns latent user &amp; item factors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92040" y="2441448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414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Item-KNN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24414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Item-Based CF — similarity-weighted predictions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3145536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455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42432" y="31455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RMSE + MAP@10 (mandatory) + Precision/Recall/NDCG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3849624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8496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42432" y="38496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"Because you liked X" — KNN similarity explanations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Findings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92040" y="1078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Positive Skew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92040" y="148132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Mean = 3.64, Median = 4.0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Users rate movies they chose to watch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2450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Long-Tail Users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285292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Top 1% users = 7.5% of ratings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Median user has only 2 ratings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3749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3822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 Top Movie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422452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Seven Samurai: 31,691 ratings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Avg = 4.20 ★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3611880"/>
            <a:ext cx="8412480" cy="118872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Matrix Sparsity: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28600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98.72%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38404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of the user–item matrix is empty. Only 1.28% of all possible (user, movie) pairs have a rating.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This is why collaborative filtering is hard — models infer from a tiny slice of observed interactions.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Two complementary approaches — accuracy vs. interpretability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— Matrix Factorization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Decomposes rating matrix R ≈ U × Σ × Vᵀ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Learns dense latent vectors (100 factors) for users &amp; movies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SGD optimisation, 20 epochs, lr=0.005, reg=0.02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Handles sparsity naturally via low-rank approximation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Seed=42 for reproducibility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41732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Item-Based KNN (CF)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Cosine similarity over co-rated user pairs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K=40 nearest neighbour movies per prediction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min_support=3 (needs ≥3 co-raters for valid sim)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KNNWithMeans: subtracts per-item mean to reduce bias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Highly interpretable — powers explainability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Pipeline: Load → Filter (≥5 ratings per user/movie) → 80/20 split → Train → Evaluate → Retrain on 100% → Recommend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SVD (Best Model)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0.9396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RMSE 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10512" y="1444752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10512" y="15087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0.9182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10512" y="21488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MAP@10 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55264" y="1444752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55264" y="15087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55264" y="21488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MAE 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816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Item-KNN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369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RMSE 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10512" y="3182112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10512" y="32369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0.9227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10512" y="3749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MAP@10 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55264" y="3182112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55264" y="323697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0.7473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55264" y="3749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MAE ↓</a:t>
            </a:r>
            <a:endParaRPr lang="en-US" sz="11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754880" y="960120"/>
          <a:ext cx="4206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28600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Criterion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60120"/>
            <a:ext cx="30175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60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SVD (Matrix Factorization)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0175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960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Item-Based KNN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RMSE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37160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</a:rPr>
              <a:t>0.9396 ✓ Better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0" y="1371600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37160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0.9591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1865376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65376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MAP@10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1865376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86537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0.9182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1865376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86537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</a:rPr>
              <a:t>0.9227 ✓ Better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359152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59152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Training Time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51760" y="2359152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35915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Fast (SGD, seconds)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2359152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35915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Slow (sim matrix)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2852928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52928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Memory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51760" y="2852928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285292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Low (factor vectors)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0" y="2852928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85292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High (N×N matrix)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3346704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346704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Interpretability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651760" y="3346704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34670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Low (latent space)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0" y="3346704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334670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</a:rPr>
              <a:t>High ✓ — explains recs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3840480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40480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Cold-Start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651760" y="3840480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84048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Partial (global bias)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69280" y="3840480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384048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Weak without history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4334256"/>
            <a:ext cx="228600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334256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Scalability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651760" y="4334256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433425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Excellent — O(factors)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69280" y="4334256"/>
            <a:ext cx="3017520" cy="49377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433425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Limited — O(items²)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Verdict: SVD wins on RMSE; KNN wins on MAP@10 and interpretability. SVD chosen as primary recommendation engine.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Success Case — User 387418 (270 ratings in filtered dataset) · Top-10 generated by SVD final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Top-5 Recommendations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299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0253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Monster-in-Law: Bonus Material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22199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2005  ★ 3.54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3288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Main Hoon Na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752344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2004  ★ 3.54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26664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9067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632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LOTR: Return of the King Extended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3282696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2003  ★ 3.54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57016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2102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5935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Pitch Black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381304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2000  ★ 3.53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87368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5137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12394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Brokeback Mountain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4343400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2005  ★ 3.53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1572768"/>
            <a:ext cx="3703320" cy="3456432"/>
          </a:xfrm>
          <a:prstGeom prst="roundRect">
            <a:avLst>
              <a:gd name="adj" fmla="val 317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2080" y="16642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Why these?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12080" y="2176272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3113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Monster-in-Law recommended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because you liked 'I Spy'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'Duplex (Widescreen)'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3090672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1808" y="314553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Main Hoon Na recommended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because you liked 'Duplex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(Widescreen)' and 'I Spy'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12080" y="4005072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405993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LOTR Extended recommended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because you liked 'I Spy'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'Duplex (Widescreen)'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990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Positive rating bias  </a:t>
            </a:r>
            <a:r>
              <a:rPr lang="en-US" sz="1200" dirty="0">
                <a:solidFill>
                  <a:srgbClr val="94A3B8"/>
                </a:solidFill>
              </a:rPr>
              <a:t>Selection bias — users watch movies they expect to like; mean = 3.64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391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Long-tail dominance  </a:t>
            </a:r>
            <a:r>
              <a:rPr lang="en-US" sz="1200" dirty="0">
                <a:solidFill>
                  <a:srgbClr val="94A3B8"/>
                </a:solidFill>
              </a:rPr>
              <a:t>Top 1% power users drive 7.5% of ratings; models must not overfit to them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706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249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SVD wins on accuracy  </a:t>
            </a:r>
            <a:r>
              <a:rPr lang="en-US" sz="1200" dirty="0">
                <a:solidFill>
                  <a:srgbClr val="94A3B8"/>
                </a:solidFill>
              </a:rPr>
              <a:t>RMSE 0.9396 vs KNN 0.9591 — latent factor approach handles sparsity better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564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10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KNN wins on insight  </a:t>
            </a:r>
            <a:r>
              <a:rPr lang="en-US" sz="1200" dirty="0">
                <a:solidFill>
                  <a:srgbClr val="94A3B8"/>
                </a:solidFill>
              </a:rPr>
              <a:t>"Because you liked X" explanations work perfectly with item similarity scores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422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0965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Coverage = 100%  </a:t>
            </a:r>
            <a:r>
              <a:rPr lang="en-US" sz="1200" dirty="0">
                <a:solidFill>
                  <a:srgbClr val="94A3B8"/>
                </a:solidFill>
              </a:rPr>
              <a:t>Both models can generate recommendations for every user in the test 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3533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SVD++  </a:t>
            </a:r>
            <a:r>
              <a:rPr lang="en-US" sz="1200" dirty="0">
                <a:solidFill>
                  <a:srgbClr val="94A3B8"/>
                </a:solidFill>
              </a:rPr>
              <a:t>+5–10% RMSE — implicit feedback (views, browsing)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0391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Neural CF  </a:t>
            </a:r>
            <a:r>
              <a:rPr lang="en-US" sz="1200" dirty="0">
                <a:solidFill>
                  <a:srgbClr val="94A3B8"/>
                </a:solidFill>
              </a:rPr>
              <a:t>Deep network replaces dot-product — non-linear patterns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7249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Temporal Model  </a:t>
            </a:r>
            <a:r>
              <a:rPr lang="en-US" sz="1200" dirty="0">
                <a:solidFill>
                  <a:srgbClr val="94A3B8"/>
                </a:solidFill>
              </a:rPr>
              <a:t>Model taste drift over time (TimeSVD++)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4107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Hybrid  </a:t>
            </a:r>
            <a:r>
              <a:rPr lang="en-US" sz="1200" dirty="0">
                <a:solidFill>
                  <a:srgbClr val="94A3B8"/>
                </a:solidFill>
              </a:rPr>
              <a:t>SVD + KNN + content features (genre, actors)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409651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Full 100M Dataset  </a:t>
            </a:r>
            <a:r>
              <a:rPr lang="en-US" sz="1200" dirty="0">
                <a:solidFill>
                  <a:srgbClr val="94A3B8"/>
                </a:solidFill>
              </a:rPr>
              <a:t>Richer representations from all 100M+ ratings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Final: SVD RMSE=0.9396 | SVD MAP@10=0.9182 | KNN MAP@10=0.9227 | Coverage=100% | Best Model: SVD (Matrix Factorization)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816</Words>
  <Application>Microsoft Office PowerPoint</Application>
  <PresentationFormat>On-screen Show (16:9)</PresentationFormat>
  <Paragraphs>152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Systems for Personalized Content Discovery</dc:title>
  <dc:subject>PptxGenJS Presentation</dc:subject>
  <dc:creator>PptxGenJS</dc:creator>
  <cp:lastModifiedBy>Akhil Pepakayala</cp:lastModifiedBy>
  <cp:revision>2</cp:revision>
  <dcterms:created xsi:type="dcterms:W3CDTF">2026-06-12T10:58:16Z</dcterms:created>
  <dcterms:modified xsi:type="dcterms:W3CDTF">2026-06-12T11:02:00Z</dcterms:modified>
</cp:coreProperties>
</file>